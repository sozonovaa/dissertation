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4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66" r:id="rId16"/>
    <p:sldId id="273" r:id="rId17"/>
  </p:sldIdLst>
  <p:sldSz cx="9144000" cy="6858000" type="screen4x3"/>
  <p:notesSz cx="6858000" cy="9144000"/>
  <p:defaultTextStyle>
    <a:defPPr>
      <a:defRPr lang="en-US"/>
    </a:defPPr>
    <a:lvl1pPr marL="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9044" autoAdjust="0"/>
    <p:restoredTop sz="94624" autoAdjust="0"/>
  </p:normalViewPr>
  <p:slideViewPr>
    <p:cSldViewPr>
      <p:cViewPr>
        <p:scale>
          <a:sx n="66" d="100"/>
          <a:sy n="66" d="100"/>
        </p:scale>
        <p:origin x="-1362" y="-2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2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Прямоугольник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Прямоугольник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Прямоугольник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Прямоугольник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Прямоугольник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Содержимое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3" name="Содержимое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Равнобедренный треугольник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Прямая соединительная линия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Равнобедренный треугольник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Прямая соединительная линия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Прямая соединительная линия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Равнобедренный треугольник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Содержимое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Прямая соединительная линия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Равнобедренный треугольник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Прямая соединительная линия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Равнобедренный треугольник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рямая соединительная линия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7EAF463A-BC7C-46EE-9F1E-7F377CCA4891}" type="datetimeFigureOut">
              <a:rPr lang="en-US" smtClean="0"/>
              <a:pPr/>
              <a:t>5/22/2021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Прямая соединительная линия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Прямая соединительная линия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Равнобедренный треугольник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381000"/>
            <a:ext cx="9144000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Санкт-Петербургский государственный электротехнический университет «ЛЭТИ» им. В.И. Ульянова (Ленина)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РАПС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600200" y="2209800"/>
            <a:ext cx="596362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Тема выпускной квалификационной работы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85800" y="2743200"/>
            <a:ext cx="76962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cap="small" dirty="0" smtClean="0"/>
              <a:t>«</a:t>
            </a:r>
            <a:r>
              <a:rPr lang="ru-RU" sz="2400" cap="small" dirty="0" smtClean="0">
                <a:latin typeface="Times New Roman" pitchFamily="18" charset="0"/>
                <a:cs typeface="Times New Roman" pitchFamily="18" charset="0"/>
              </a:rPr>
              <a:t>РАЗРАБОТКА И ИССЛЕДОВАНИЕ СИСТЕМЫ УПРАВЛЕНИЯ ЭЛЕКТРОПРИВОДОМ С ИСПОЛЬЗОВАНИЕМ ВЕКТОРНОЙ ШИРОТНО-ИМПУЛЬСНОЙ МОДУЛЯЦИИ</a:t>
            </a:r>
            <a:r>
              <a:rPr lang="ru-RU" sz="2400" cap="all" dirty="0" smtClean="0"/>
              <a:t>»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85800" y="4724400"/>
            <a:ext cx="7239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Автор: Созонов А.А. группа 5404</a:t>
            </a:r>
          </a:p>
          <a:p>
            <a:r>
              <a:rPr lang="ru-RU" dirty="0" smtClean="0"/>
              <a:t>Научный руководитель: д.т.н. Белов М.П.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667000" y="5562600"/>
            <a:ext cx="381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Санкт-Петербург</a:t>
            </a:r>
          </a:p>
          <a:p>
            <a:pPr algn="ctr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20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21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533400" y="152400"/>
            <a:ext cx="8229600" cy="990600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Цель и задачи</a:t>
            </a:r>
            <a:endParaRPr lang="ru-RU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Содержимое 1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382000" cy="5105400"/>
          </a:xfrm>
        </p:spPr>
        <p:txBody>
          <a:bodyPr>
            <a:normAutofit fontScale="92500"/>
          </a:bodyPr>
          <a:lstStyle/>
          <a:p>
            <a:pPr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Цель: </a:t>
            </a:r>
          </a:p>
          <a:p>
            <a:pPr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	Разработка и исследование системы управления тяговым асинхронным электроприводом с использованием алгоритмов векторной ШИМ</a:t>
            </a:r>
          </a:p>
          <a:p>
            <a:pPr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Задачи: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Изучение объекта исследования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Исследование алгоритма формирования сигналов с использованием векторной ШИМ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Разработка структурной схемы системы управления электроприводом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Разработка алгоритмов работы электропривода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Моделирование разработанной системы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Проверка разработанных алгоритмов на объекте исследования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Arial" pitchFamily="34" charset="0"/>
              <a:buChar char="•"/>
            </a:pP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Arial" pitchFamily="34" charset="0"/>
              <a:buChar char="•"/>
            </a:pP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Объект исследования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ru-RU" dirty="0" err="1" smtClean="0"/>
              <a:t>БелАЗ</a:t>
            </a:r>
            <a:r>
              <a:rPr lang="ru-RU" dirty="0" smtClean="0"/>
              <a:t> 75711, грузоподъемностью 450 тонн</a:t>
            </a:r>
          </a:p>
          <a:p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05000"/>
            <a:ext cx="72390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Функциональная схема СУ оси самосвала</a:t>
            </a:r>
            <a:endParaRPr lang="ru-RU" dirty="0"/>
          </a:p>
        </p:txBody>
      </p:sp>
      <p:pic>
        <p:nvPicPr>
          <p:cNvPr id="4" name="Содержимое 3"/>
          <p:cNvPicPr>
            <a:picLocks noGrp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>
          <a:xfrm>
            <a:off x="609600" y="1752600"/>
            <a:ext cx="8077200" cy="419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Векторная ШИМ. Принцип работы. Алгоритм получения заданного вектора напряжения.</a:t>
            </a:r>
            <a:endParaRPr lang="ru-RU" dirty="0"/>
          </a:p>
        </p:txBody>
      </p:sp>
      <p:pic>
        <p:nvPicPr>
          <p:cNvPr id="4" name="Содержимое 3"/>
          <p:cNvPicPr>
            <a:picLocks noGrp="1"/>
          </p:cNvPicPr>
          <p:nvPr>
            <p:ph sz="quarter"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981200"/>
            <a:ext cx="3657600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Рисунок 4"/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00600" y="1295400"/>
            <a:ext cx="34290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Рисунок 5"/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419600" y="3657600"/>
            <a:ext cx="4301836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Векторная ШИМ. Результат работы алгоритма.</a:t>
            </a:r>
            <a:endParaRPr lang="ru-RU" dirty="0"/>
          </a:p>
        </p:txBody>
      </p:sp>
      <p:pic>
        <p:nvPicPr>
          <p:cNvPr id="20482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762000" y="1295400"/>
            <a:ext cx="3886200" cy="24522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48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1000" y="3962400"/>
            <a:ext cx="8153400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48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343400" y="1219201"/>
            <a:ext cx="4291296" cy="2588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Структурная схема СУ.</a:t>
            </a:r>
            <a:endParaRPr lang="ru-RU" dirty="0"/>
          </a:p>
        </p:txBody>
      </p:sp>
      <p:pic>
        <p:nvPicPr>
          <p:cNvPr id="4" name="Содержимое 3"/>
          <p:cNvPicPr>
            <a:picLocks noGrp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>
          <a:xfrm>
            <a:off x="609600" y="1371600"/>
            <a:ext cx="8001000" cy="47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Расчёт </a:t>
            </a:r>
            <a:r>
              <a:rPr lang="en-US" dirty="0" smtClean="0"/>
              <a:t>d/q </a:t>
            </a:r>
            <a:r>
              <a:rPr lang="ru-RU" dirty="0" smtClean="0"/>
              <a:t>составляющих тока статора.</a:t>
            </a:r>
            <a:endParaRPr lang="ru-RU" dirty="0"/>
          </a:p>
        </p:txBody>
      </p:sp>
      <p:pic>
        <p:nvPicPr>
          <p:cNvPr id="4" name="Содержимое 3"/>
          <p:cNvPicPr>
            <a:picLocks noGrp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>
          <a:xfrm>
            <a:off x="1143000" y="1295400"/>
            <a:ext cx="7162800" cy="243840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43000" y="3657600"/>
            <a:ext cx="7162800" cy="259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Сравнение векторной ШИМ и синусоидальной без </a:t>
            </a:r>
            <a:r>
              <a:rPr lang="ru-RU" dirty="0" err="1" smtClean="0"/>
              <a:t>перемодуляции</a:t>
            </a:r>
            <a:r>
              <a:rPr lang="ru-RU" dirty="0" smtClean="0"/>
              <a:t>.</a:t>
            </a:r>
            <a:endParaRPr lang="ru-RU" dirty="0"/>
          </a:p>
        </p:txBody>
      </p:sp>
      <p:sp>
        <p:nvSpPr>
          <p:cNvPr id="5" name="Содержимое 4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ru-RU" sz="2000" dirty="0" smtClean="0"/>
              <a:t>Синяя кривая, скорость двигателя при использовании алгоритма векторной ШИМ.</a:t>
            </a:r>
          </a:p>
          <a:p>
            <a:r>
              <a:rPr lang="ru-RU" sz="2000" dirty="0" smtClean="0"/>
              <a:t>Красная кривая, скорость двигателя при использовании синусоид. ШИМ.</a:t>
            </a:r>
            <a:endParaRPr lang="ru-RU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52600" y="2667000"/>
            <a:ext cx="5638800" cy="330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8305800" y="6324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Разгон и торможение самосвала в сопряженном состоянии</a:t>
            </a:r>
            <a:endParaRPr lang="ru-RU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228600" y="1295399"/>
            <a:ext cx="4267200" cy="23622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24400" y="1295401"/>
            <a:ext cx="4038600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28600" y="3657600"/>
            <a:ext cx="4267200" cy="257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Рисунок 6"/>
          <p:cNvPicPr/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724400" y="3657600"/>
            <a:ext cx="4101878" cy="25926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8305800" y="63246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10</a:t>
            </a:r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Разгон и торможение с максимальной нагрузкой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381000" y="1219199"/>
            <a:ext cx="4953000" cy="24255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1000" y="3733800"/>
            <a:ext cx="4876800" cy="248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334000" y="1447800"/>
            <a:ext cx="35814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момент времени </a:t>
            </a:r>
            <a:r>
              <a:rPr lang="en-US" dirty="0" smtClean="0"/>
              <a:t>t=2</a:t>
            </a:r>
            <a:r>
              <a:rPr lang="ru-RU" dirty="0" smtClean="0"/>
              <a:t> с прикладывается нагрузка 18000 Нм. </a:t>
            </a:r>
          </a:p>
          <a:p>
            <a:endParaRPr lang="ru-RU" dirty="0" smtClean="0"/>
          </a:p>
          <a:p>
            <a:r>
              <a:rPr lang="ru-RU" dirty="0" smtClean="0"/>
              <a:t>Выводы:</a:t>
            </a:r>
          </a:p>
          <a:p>
            <a:pPr>
              <a:buFontTx/>
              <a:buChar char="-"/>
            </a:pPr>
            <a:r>
              <a:rPr lang="ru-RU" dirty="0" smtClean="0"/>
              <a:t>СУ выдерживает такую нагрузку скорость вращения соответствует тяговым характеристикам заявленным производителем самосвала.</a:t>
            </a:r>
          </a:p>
          <a:p>
            <a:endParaRPr lang="ru-RU" dirty="0" smtClean="0"/>
          </a:p>
          <a:p>
            <a:endParaRPr lang="ru-RU" dirty="0" smtClean="0"/>
          </a:p>
          <a:p>
            <a:pPr>
              <a:buFontTx/>
              <a:buChar char="-"/>
            </a:pPr>
            <a:r>
              <a:rPr lang="ru-RU" dirty="0" smtClean="0"/>
              <a:t>СУ корректно отрабатывает алгоритм удержания нуля скорости.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305800" y="63246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Режим дифференциала и удержания скорости движения (круиз-контроль).</a:t>
            </a:r>
            <a:endParaRPr lang="ru-RU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228600" y="1600200"/>
            <a:ext cx="3952875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7200" y="3962400"/>
            <a:ext cx="3733800" cy="224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85800" y="1219200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Дифференциал:</a:t>
            </a:r>
            <a:endParaRPr lang="ru-RU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760047" y="1600200"/>
            <a:ext cx="4002953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105400" y="1219200"/>
            <a:ext cx="227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Удержание скорости: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 rot="5400000">
            <a:off x="2095500" y="3771900"/>
            <a:ext cx="48006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800600" y="3962400"/>
            <a:ext cx="4010025" cy="237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8305800" y="63246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Режимы отвечающие за безопасность.</a:t>
            </a:r>
            <a:endParaRPr lang="ru-RU" dirty="0"/>
          </a:p>
        </p:txBody>
      </p:sp>
      <p:pic>
        <p:nvPicPr>
          <p:cNvPr id="5122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0" y="1676400"/>
            <a:ext cx="44958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04800" y="3962400"/>
            <a:ext cx="4395355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533400" y="1295400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АБС:</a:t>
            </a:r>
            <a:endParaRPr lang="ru-RU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rot="5400000">
            <a:off x="2324894" y="3694906"/>
            <a:ext cx="48006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76800" y="1600200"/>
            <a:ext cx="4112713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800600" y="3962400"/>
            <a:ext cx="4153480" cy="1981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5029200" y="1295400"/>
            <a:ext cx="2481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Ограничение скорости: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8305800" y="63246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Графики с объекта. Режимы торможения.</a:t>
            </a:r>
            <a:endParaRPr lang="ru-RU" dirty="0"/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304800" y="1524000"/>
            <a:ext cx="4282762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9600" y="3962400"/>
            <a:ext cx="4038600" cy="22908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48200" y="3962400"/>
            <a:ext cx="4142090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495800" y="1676400"/>
            <a:ext cx="4233732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8305800" y="63246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14</a:t>
            </a:r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Заключение</a:t>
            </a:r>
            <a:endParaRPr lang="ru-RU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Содержимое 1"/>
          <p:cNvSpPr>
            <a:spLocks noGrp="1"/>
          </p:cNvSpPr>
          <p:nvPr>
            <p:ph sz="quarter" idx="1"/>
          </p:nvPr>
        </p:nvSpPr>
        <p:spPr>
          <a:xfrm>
            <a:off x="457200" y="1447800"/>
            <a:ext cx="8229600" cy="4572000"/>
          </a:xfrm>
        </p:spPr>
        <p:txBody>
          <a:bodyPr>
            <a:normAutofit/>
          </a:bodyPr>
          <a:lstStyle/>
          <a:p>
            <a:pPr>
              <a:buFont typeface="Arial" pitchFamily="34" charset="0"/>
              <a:buChar char="•"/>
            </a:pPr>
            <a:r>
              <a:rPr lang="ru-RU" dirty="0" smtClean="0"/>
              <a:t>Разработана СУ управления карьерным самосвалом, отвечающая требованиям заказчика.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Проведены успешные эксперименты в математическом пакете.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Успешно окончены пуско-наладочные работы по внедрению данной системы </a:t>
            </a:r>
            <a:r>
              <a:rPr lang="ru-RU" dirty="0" smtClean="0"/>
              <a:t>управления в объект исследования.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Рассмотрены специальные вопросы обеспечения </a:t>
            </a:r>
            <a:r>
              <a:rPr lang="ru-RU" dirty="0" err="1" smtClean="0"/>
              <a:t>базопасности</a:t>
            </a:r>
            <a:r>
              <a:rPr lang="ru-RU" dirty="0" smtClean="0"/>
              <a:t>.</a:t>
            </a: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Font typeface="Arial" pitchFamily="34" charset="0"/>
              <a:buChar char="•"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305800" y="63246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15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971800"/>
            <a:ext cx="8229600" cy="990600"/>
          </a:xfrm>
        </p:spPr>
        <p:txBody>
          <a:bodyPr/>
          <a:lstStyle/>
          <a:p>
            <a:pPr algn="ctr"/>
            <a:r>
              <a:rPr lang="ru-RU" dirty="0" smtClean="0"/>
              <a:t>Благодарю за внимание!</a:t>
            </a:r>
            <a:endParaRPr lang="ru-RU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Начальная">
  <a:themeElements>
    <a:clrScheme name="Начальная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Начальная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Начальная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572</TotalTime>
  <Words>259</Words>
  <PresentationFormat>Экран (4:3)</PresentationFormat>
  <Paragraphs>64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Начальная</vt:lpstr>
      <vt:lpstr>Слайд 1</vt:lpstr>
      <vt:lpstr>Цель и задачи</vt:lpstr>
      <vt:lpstr>Объект исследования</vt:lpstr>
      <vt:lpstr>Функциональная схема СУ оси самосвала</vt:lpstr>
      <vt:lpstr>Векторная ШИМ. Принцип работы. Алгоритм получения заданного вектора напряжения.</vt:lpstr>
      <vt:lpstr>Векторная ШИМ. Результат работы алгоритма.</vt:lpstr>
      <vt:lpstr>Структурная схема СУ.</vt:lpstr>
      <vt:lpstr>Расчёт d/q составляющих тока статора.</vt:lpstr>
      <vt:lpstr>Сравнение векторной ШИМ и синусоидальной без перемодуляции.</vt:lpstr>
      <vt:lpstr>Разгон и торможение самосвала в сопряженном состоянии</vt:lpstr>
      <vt:lpstr>Разгон и торможение с максимальной нагрузкой</vt:lpstr>
      <vt:lpstr>Режим дифференциала и удержания скорости движения (круиз-контроль).</vt:lpstr>
      <vt:lpstr>Режимы отвечающие за безопасность.</vt:lpstr>
      <vt:lpstr>Графики с объекта. Режимы торможения.</vt:lpstr>
      <vt:lpstr>Заключение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преддипломной практике</dc:title>
  <dc:creator>Андрей</dc:creator>
  <cp:lastModifiedBy>Андрей</cp:lastModifiedBy>
  <cp:revision>63</cp:revision>
  <dcterms:created xsi:type="dcterms:W3CDTF">2019-05-27T16:25:29Z</dcterms:created>
  <dcterms:modified xsi:type="dcterms:W3CDTF">2021-05-22T16:34:08Z</dcterms:modified>
</cp:coreProperties>
</file>