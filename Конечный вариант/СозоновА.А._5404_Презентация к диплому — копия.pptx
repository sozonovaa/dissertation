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64" r:id="rId3"/>
    <p:sldId id="268" r:id="rId4"/>
    <p:sldId id="271" r:id="rId5"/>
    <p:sldId id="274" r:id="rId6"/>
    <p:sldId id="257" r:id="rId7"/>
    <p:sldId id="272" r:id="rId8"/>
    <p:sldId id="259" r:id="rId9"/>
    <p:sldId id="267" r:id="rId10"/>
    <p:sldId id="265" r:id="rId11"/>
    <p:sldId id="260" r:id="rId12"/>
    <p:sldId id="261" r:id="rId13"/>
    <p:sldId id="262" r:id="rId14"/>
    <p:sldId id="263" r:id="rId15"/>
    <p:sldId id="269" r:id="rId16"/>
    <p:sldId id="266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9485" autoAdjust="0"/>
    <p:restoredTop sz="94624" autoAdjust="0"/>
  </p:normalViewPr>
  <p:slideViewPr>
    <p:cSldViewPr>
      <p:cViewPr>
        <p:scale>
          <a:sx n="75" d="100"/>
          <a:sy n="75" d="100"/>
        </p:scale>
        <p:origin x="-1872" y="-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24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7EAF463A-BC7C-46EE-9F1E-7F377CCA4891}" type="datetimeFigureOut">
              <a:rPr lang="en-US" smtClean="0"/>
              <a:pPr/>
              <a:t>6/16/2019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Прямоугольник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Прямоугольник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Прямоугольник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7EAF463A-BC7C-46EE-9F1E-7F377CCA4891}" type="datetimeFigureOut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6/16/2019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6/16/2019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6/16/2019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6/16/2019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Прямая соединительная линия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6/16/2019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Содержимое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6/16/2019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6/16/2019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Равнобедренный треугольник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6/16/2019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Прямая соединительная линия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Прямая соединительная линия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Равнобедренный треугольник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9.jpeg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oleObject" Target="../embeddings/oleObject1.bin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381000"/>
            <a:ext cx="9144000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Санкт-Петербургский государственный электротехнический университет «ЛЭТИ» им. В.И. Ульянова (Ленина)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РАПС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600200" y="2209800"/>
            <a:ext cx="59636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выпускной квалификационной работы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85800" y="2743200"/>
            <a:ext cx="7696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cap="small" dirty="0" smtClean="0"/>
              <a:t>«РАЗРАБОТКА </a:t>
            </a:r>
            <a:r>
              <a:rPr lang="ru-RU" sz="2800" cap="all" dirty="0" smtClean="0"/>
              <a:t>микропроцессорной системы управления вентиляцией для самосвала»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85800" y="4724400"/>
            <a:ext cx="7239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Автор: Созонов А.А. группа 5404</a:t>
            </a:r>
          </a:p>
          <a:p>
            <a:r>
              <a:rPr lang="ru-RU" dirty="0" smtClean="0"/>
              <a:t>Научный руководитель: д.т.н. Белов М.П.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667000" y="5562600"/>
            <a:ext cx="381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Санкт-Петербург</a:t>
            </a:r>
          </a:p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2019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990600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Цель и задачи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Содержимое 1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Цель: </a:t>
            </a:r>
          </a:p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	Разработка системы управления вентиляцией силового шкафа карьерного самосвала</a:t>
            </a:r>
          </a:p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Задачи: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Обзор существующих решений в области охлаждения силовых полупроводниковых ключей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Расчет и выбор основных средств автоматизации системы управления вентиляцией самосвала:</a:t>
            </a:r>
          </a:p>
          <a:p>
            <a:pPr lvl="1">
              <a:buFont typeface="Arial" pitchFamily="34" charset="0"/>
              <a:buChar char="•"/>
            </a:pP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Вентилятора</a:t>
            </a:r>
          </a:p>
          <a:p>
            <a:pPr lvl="1">
              <a:buFont typeface="Arial" pitchFamily="34" charset="0"/>
              <a:buChar char="•"/>
            </a:pP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Двигателя</a:t>
            </a:r>
          </a:p>
          <a:p>
            <a:pPr lvl="1">
              <a:buFont typeface="Arial" pitchFamily="34" charset="0"/>
              <a:buChar char="•"/>
            </a:pP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Контроллера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Построение модели с выбранными системами автоматизации и моделирование результатов разработки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Произвести технико-экономическое обоснование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05800" y="6324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Способы охлаждения полупроводниковых ключей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Способы охлаждения радиаторов: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Естественное (конвекционное)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Принудительное (искусственное) :</a:t>
            </a:r>
          </a:p>
          <a:p>
            <a:pPr lvl="1">
              <a:buFont typeface="Arial" pitchFamily="34" charset="0"/>
              <a:buChar char="•"/>
            </a:pP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Воздушное</a:t>
            </a:r>
          </a:p>
          <a:p>
            <a:pPr lvl="1">
              <a:buFont typeface="Arial" pitchFamily="34" charset="0"/>
              <a:buChar char="•"/>
            </a:pP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Водяное </a:t>
            </a:r>
          </a:p>
          <a:p>
            <a:pPr lvl="1">
              <a:buNone/>
            </a:pPr>
            <a:endParaRPr lang="ru-RU" sz="26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ru-RU" sz="2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Вентиляторы</a:t>
            </a:r>
            <a:r>
              <a:rPr lang="ru-RU" sz="2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buFont typeface="Arial" pitchFamily="34" charset="0"/>
              <a:buChar char="•"/>
            </a:pP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Осевой</a:t>
            </a:r>
          </a:p>
          <a:p>
            <a:pPr lvl="1">
              <a:buFont typeface="Arial" pitchFamily="34" charset="0"/>
              <a:buChar char="•"/>
            </a:pP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Радиальный</a:t>
            </a:r>
          </a:p>
          <a:p>
            <a:pPr lvl="1">
              <a:buFont typeface="Arial" pitchFamily="34" charset="0"/>
              <a:buChar char="•"/>
            </a:pP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Диаметральный</a:t>
            </a:r>
          </a:p>
          <a:p>
            <a:pPr lvl="1">
              <a:buFont typeface="Arial" pitchFamily="34" charset="0"/>
              <a:buChar char="•"/>
            </a:pPr>
            <a:endParaRPr lang="ru-RU" dirty="0" smtClean="0"/>
          </a:p>
          <a:p>
            <a:pPr>
              <a:buFont typeface="Arial" pitchFamily="34" charset="0"/>
              <a:buChar char="•"/>
            </a:pP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3810000"/>
            <a:ext cx="42672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8305800" y="6324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Существующие решения для охлаждения 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752600"/>
            <a:ext cx="8229600" cy="4404360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	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исследуемых системах охлаждения силовых шкафов основными способами охлаждения являются:</a:t>
            </a:r>
          </a:p>
          <a:p>
            <a:pPr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Установка лопастей вентилятора на вал генератора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Использование насосов, для реализации водяного охлаждения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Использование вентиляторов, реализующих воздушное охлаждение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05800" y="6324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Разработка функциональной схемы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Содержимое 3" descr="https://pp.userapi.com/c847217/v847217081/1fc0ed/KVpAs7PGJpk.jpg"/>
          <p:cNvPicPr>
            <a:picLocks noGrp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524001"/>
            <a:ext cx="7153275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85800" y="4495800"/>
            <a:ext cx="7391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данную схему включены следующие элементы: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Генератор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Выпрямитель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Автономный инвертор(АИ) с системой управления(СУ)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Датчик температуры кристалла транзистора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Два двигателя, вращающие вентиляторы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05800" y="6324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Определение значения теплового сопротивления охладителя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676400"/>
            <a:ext cx="7086601" cy="1365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838200" y="1219200"/>
            <a:ext cx="5906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Схема тепловых сопротивлений охлаждения транзистора: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5410200"/>
            <a:ext cx="7502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Необходимое значение теплового сопротивления охладителя: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R=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40 К/кВт</a:t>
            </a:r>
          </a:p>
          <a:p>
            <a:endParaRPr lang="ru-RU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838200" y="3048000"/>
            <a:ext cx="7391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Rj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-c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 тепловое сопротивление между кристаллом транзистора и корпусом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Rc-ohl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 тепловое сопротивление между корпусом транзистора и охладителем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Rohl-os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 тепловое сопротивление охладителя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+45…+110 – предельные значения температур окружающей среды и кристалла транзистора соответственно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05800" y="6324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Определение параметров вентилятора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Содержимое 3"/>
          <p:cNvPicPr>
            <a:picLocks noGrp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1447800"/>
            <a:ext cx="39624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24400" y="1447800"/>
            <a:ext cx="4223129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рямоугольник 5"/>
          <p:cNvSpPr/>
          <p:nvPr/>
        </p:nvSpPr>
        <p:spPr>
          <a:xfrm>
            <a:off x="381000" y="4038600"/>
            <a:ext cx="4191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Необходимое значение параметра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LV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Значение потока воздуха для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радиатора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Значение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потока воздуха для шести радиаторов: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/>
          </a:p>
        </p:txBody>
      </p:sp>
      <p:sp>
        <p:nvSpPr>
          <p:cNvPr id="7" name="Прямоугольник 6"/>
          <p:cNvSpPr/>
          <p:nvPr/>
        </p:nvSpPr>
        <p:spPr>
          <a:xfrm>
            <a:off x="4648200" y="4267200"/>
            <a:ext cx="4495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Необходимое значение перепада давления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8308914" y="6324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457200" y="4267200"/>
          <a:ext cx="1117600" cy="457200"/>
        </p:xfrm>
        <a:graphic>
          <a:graphicData uri="http://schemas.openxmlformats.org/presentationml/2006/ole">
            <p:oleObj spid="_x0000_s1027" name="Equation" r:id="rId5" imgW="1117440" imgH="520560" progId="Equation.DSMT4">
              <p:embed/>
            </p:oleObj>
          </a:graphicData>
        </a:graphic>
      </p:graphicFrame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457200" y="4876800"/>
          <a:ext cx="901700" cy="457200"/>
        </p:xfrm>
        <a:graphic>
          <a:graphicData uri="http://schemas.openxmlformats.org/presentationml/2006/ole">
            <p:oleObj spid="_x0000_s1028" name="Equation" r:id="rId6" imgW="901440" imgH="520560" progId="Equation.DSMT4">
              <p:embed/>
            </p:oleObj>
          </a:graphicData>
        </a:graphic>
      </p:graphicFrame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457200" y="5791200"/>
          <a:ext cx="1689100" cy="457200"/>
        </p:xfrm>
        <a:graphic>
          <a:graphicData uri="http://schemas.openxmlformats.org/presentationml/2006/ole">
            <p:oleObj spid="_x0000_s1029" name="Equation" r:id="rId7" imgW="1688760" imgH="520560" progId="Equation.DSMT4">
              <p:embed/>
            </p:oleObj>
          </a:graphicData>
        </a:graphic>
      </p:graphicFrame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4724400" y="4648200"/>
          <a:ext cx="901700" cy="168275"/>
        </p:xfrm>
        <a:graphic>
          <a:graphicData uri="http://schemas.openxmlformats.org/presentationml/2006/ole">
            <p:oleObj spid="_x0000_s1030" name="Equation" r:id="rId8" imgW="901440" imgH="190440" progId="Equation.DSMT4">
              <p:embed/>
            </p:oleObj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Выбор вентилятора и двигателя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Содержимое 1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343400"/>
          </a:xfrm>
        </p:spPr>
        <p:txBody>
          <a:bodyPr/>
          <a:lstStyle/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Параметры выбранного вентилятора:</a:t>
            </a:r>
          </a:p>
          <a:p>
            <a:pPr>
              <a:buNone/>
            </a:pP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228601" y="1752600"/>
          <a:ext cx="8561988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411"/>
                <a:gridCol w="1224000"/>
                <a:gridCol w="1674976"/>
                <a:gridCol w="1435693"/>
                <a:gridCol w="1608508"/>
                <a:gridCol w="1422400"/>
              </a:tblGrid>
              <a:tr h="499499">
                <a:tc rowSpan="2">
                  <a:txBody>
                    <a:bodyPr/>
                    <a:lstStyle/>
                    <a:p>
                      <a:pPr indent="0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Индекс вентилятора</a:t>
                      </a: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indent="0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 err="1" smtClean="0">
                          <a:latin typeface="Times New Roman"/>
                          <a:ea typeface="Times New Roman"/>
                        </a:rPr>
                        <a:t>Синх</a:t>
                      </a:r>
                      <a:r>
                        <a:rPr lang="ru-RU" sz="1400" dirty="0" smtClean="0">
                          <a:latin typeface="Times New Roman"/>
                          <a:ea typeface="Times New Roman"/>
                        </a:rPr>
                        <a:t>. </a:t>
                      </a: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част</a:t>
                      </a:r>
                      <a:r>
                        <a:rPr lang="ru-RU" sz="1400" dirty="0" smtClean="0">
                          <a:latin typeface="Times New Roman"/>
                          <a:ea typeface="Times New Roman"/>
                        </a:rPr>
                        <a:t>. </a:t>
                      </a:r>
                      <a:r>
                        <a:rPr lang="ru-RU" sz="1400" dirty="0" err="1" smtClean="0">
                          <a:latin typeface="Times New Roman"/>
                          <a:ea typeface="Times New Roman"/>
                        </a:rPr>
                        <a:t>вращ</a:t>
                      </a: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.,</a:t>
                      </a: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indent="0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 smtClean="0">
                          <a:latin typeface="Times New Roman"/>
                          <a:ea typeface="Times New Roman"/>
                        </a:rPr>
                        <a:t>Мощность</a:t>
                      </a: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, потребляемая из сети, кВт</a:t>
                      </a: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indent="0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Рабочий участок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indent="0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Масса вентилятора, кг</a:t>
                      </a:r>
                    </a:p>
                  </a:txBody>
                  <a:tcPr marL="68580" marR="68580" marT="0" marB="0" anchor="ctr"/>
                </a:tc>
              </a:tr>
              <a:tr h="129664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Производительность, </a:t>
                      </a:r>
                      <a:r>
                        <a:rPr lang="ru-RU" sz="1400" dirty="0" smtClean="0">
                          <a:latin typeface="Times New Roman"/>
                          <a:ea typeface="Times New Roman"/>
                        </a:rPr>
                        <a:t>м</a:t>
                      </a:r>
                      <a:r>
                        <a:rPr lang="en-US" sz="1400" dirty="0" smtClean="0">
                          <a:latin typeface="Times New Roman"/>
                          <a:ea typeface="Times New Roman"/>
                        </a:rPr>
                        <a:t>^</a:t>
                      </a:r>
                      <a:r>
                        <a:rPr lang="ru-RU" sz="1400" dirty="0" smtClean="0">
                          <a:latin typeface="Times New Roman"/>
                          <a:ea typeface="Times New Roman"/>
                        </a:rPr>
                        <a:t>3/ч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Давление полное, Па</a:t>
                      </a: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indent="450215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 smtClean="0">
                          <a:latin typeface="Times New Roman"/>
                          <a:ea typeface="Times New Roman"/>
                        </a:rPr>
                        <a:t>ВРС</a:t>
                      </a:r>
                      <a:r>
                        <a:rPr lang="ru-RU" sz="1400" baseline="0" dirty="0" smtClean="0"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ru-RU" sz="1400" dirty="0" smtClean="0">
                          <a:latin typeface="Times New Roman"/>
                          <a:ea typeface="Times New Roman"/>
                        </a:rPr>
                        <a:t>74/33-1.1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>
                          <a:latin typeface="Times New Roman"/>
                          <a:ea typeface="Times New Roman"/>
                        </a:rPr>
                        <a:t>2900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>
                          <a:latin typeface="Times New Roman"/>
                          <a:ea typeface="Times New Roman"/>
                        </a:rPr>
                        <a:t>9800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>
                          <a:latin typeface="Times New Roman"/>
                          <a:ea typeface="Times New Roman"/>
                        </a:rPr>
                        <a:t>4000-9360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2950-2300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110</a:t>
                      </a: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7" name="Содержимое 3"/>
          <p:cNvGraphicFramePr>
            <a:graphicFrameLocks/>
          </p:cNvGraphicFramePr>
          <p:nvPr/>
        </p:nvGraphicFramePr>
        <p:xfrm>
          <a:off x="304800" y="4876800"/>
          <a:ext cx="8534400" cy="879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/>
                <a:gridCol w="1625600"/>
                <a:gridCol w="1219200"/>
                <a:gridCol w="1422400"/>
                <a:gridCol w="1422400"/>
                <a:gridCol w="1422400"/>
              </a:tblGrid>
              <a:tr h="370840">
                <a:tc>
                  <a:txBody>
                    <a:bodyPr/>
                    <a:lstStyle/>
                    <a:p>
                      <a:pPr indent="0" algn="ctr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Индекс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Мощность, кВт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КПД, 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Коэффициент мощности,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en-US" sz="1400" dirty="0" smtClean="0">
                          <a:latin typeface="Times New Roman"/>
                          <a:ea typeface="Times New Roman"/>
                        </a:rPr>
                        <a:t>I</a:t>
                      </a:r>
                      <a:r>
                        <a:rPr lang="ru-RU" sz="1400" dirty="0" smtClean="0">
                          <a:latin typeface="Times New Roman"/>
                          <a:ea typeface="Times New Roman"/>
                        </a:rPr>
                        <a:t>пуск./</a:t>
                      </a:r>
                      <a:r>
                        <a:rPr lang="en-US" sz="1400" dirty="0" smtClean="0">
                          <a:latin typeface="Times New Roman"/>
                          <a:ea typeface="Times New Roman"/>
                        </a:rPr>
                        <a:t>I</a:t>
                      </a:r>
                      <a:r>
                        <a:rPr lang="ru-RU" sz="1400" dirty="0" smtClean="0">
                          <a:latin typeface="Times New Roman"/>
                          <a:ea typeface="Times New Roman"/>
                        </a:rPr>
                        <a:t>н.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Ток при 380В, А</a:t>
                      </a: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indent="0" algn="ctr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АИР132М20М2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11,0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88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0,9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7,5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21,1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457200" y="4343400"/>
            <a:ext cx="517526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Параметры выбранного двигателя:</a:t>
            </a:r>
            <a:endParaRPr lang="ru-RU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05800" y="6324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Выбор 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транзисторов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Содержимое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Расчетная амплитуда тока протекающего по транзистору: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I=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119,3 А</a:t>
            </a:r>
          </a:p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Параметры выбранного транзистора:</a:t>
            </a:r>
          </a:p>
          <a:p>
            <a:pPr>
              <a:buNone/>
            </a:pPr>
            <a:endParaRPr lang="ru-RU" dirty="0" smtClean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066800" y="2514600"/>
          <a:ext cx="7467600" cy="3505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</a:tblGrid>
              <a:tr h="453687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Технический параметр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>
                          <a:latin typeface="Times New Roman"/>
                          <a:ea typeface="Times New Roman"/>
                        </a:rPr>
                        <a:t>Значение</a:t>
                      </a:r>
                    </a:p>
                  </a:txBody>
                  <a:tcPr marL="68580" marR="68580" marT="0" marB="0" anchor="ctr"/>
                </a:tc>
              </a:tr>
              <a:tr h="453687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>
                          <a:latin typeface="Times New Roman"/>
                          <a:ea typeface="Times New Roman"/>
                        </a:rPr>
                        <a:t>Наличие встроенного диода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>
                          <a:latin typeface="Times New Roman"/>
                          <a:ea typeface="Times New Roman"/>
                        </a:rPr>
                        <a:t>Да</a:t>
                      </a:r>
                    </a:p>
                  </a:txBody>
                  <a:tcPr marL="68580" marR="68580" marT="0" marB="0" anchor="ctr"/>
                </a:tc>
              </a:tr>
              <a:tr h="453687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Максимальное напряжение, В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>
                          <a:latin typeface="Times New Roman"/>
                          <a:ea typeface="Times New Roman"/>
                        </a:rPr>
                        <a:t>600</a:t>
                      </a:r>
                    </a:p>
                  </a:txBody>
                  <a:tcPr marL="68580" marR="68580" marT="0" marB="0" anchor="ctr"/>
                </a:tc>
              </a:tr>
              <a:tr h="453687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>
                          <a:latin typeface="Times New Roman"/>
                          <a:ea typeface="Times New Roman"/>
                        </a:rPr>
                        <a:t>Максимальный ток, А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>
                          <a:latin typeface="Times New Roman"/>
                          <a:ea typeface="Times New Roman"/>
                        </a:rPr>
                        <a:t>120</a:t>
                      </a:r>
                    </a:p>
                  </a:txBody>
                  <a:tcPr marL="68580" marR="68580" marT="0" marB="0" anchor="ctr"/>
                </a:tc>
              </a:tr>
              <a:tr h="783077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>
                          <a:latin typeface="Times New Roman"/>
                          <a:ea typeface="Times New Roman"/>
                        </a:rPr>
                        <a:t>Максимальная рассеиваемая мощность, Вт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378</a:t>
                      </a:r>
                    </a:p>
                  </a:txBody>
                  <a:tcPr marL="68580" marR="68580" marT="0" marB="0" anchor="ctr"/>
                </a:tc>
              </a:tr>
              <a:tr h="453687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>
                          <a:latin typeface="Times New Roman"/>
                          <a:ea typeface="Times New Roman"/>
                        </a:rPr>
                        <a:t>Рабочая температура (</a:t>
                      </a:r>
                      <a:r>
                        <a:rPr lang="en-US" sz="1400">
                          <a:latin typeface="Times New Roman"/>
                          <a:ea typeface="Times New Roman"/>
                        </a:rPr>
                        <a:t>Tj)</a:t>
                      </a:r>
                      <a:r>
                        <a:rPr lang="ru-RU" sz="1400">
                          <a:latin typeface="Times New Roman"/>
                          <a:ea typeface="Times New Roman"/>
                        </a:rPr>
                        <a:t>, ºС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>
                          <a:latin typeface="Times New Roman"/>
                          <a:ea typeface="Times New Roman"/>
                        </a:rPr>
                        <a:t>-55...+150</a:t>
                      </a:r>
                    </a:p>
                  </a:txBody>
                  <a:tcPr marL="68580" marR="68580" marT="0" marB="0" anchor="ctr"/>
                </a:tc>
              </a:tr>
              <a:tr h="453687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>
                          <a:latin typeface="Times New Roman"/>
                          <a:ea typeface="Times New Roman"/>
                        </a:rPr>
                        <a:t>Корпус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en-US" sz="1400" dirty="0">
                          <a:latin typeface="Times New Roman"/>
                          <a:ea typeface="Times New Roman"/>
                        </a:rPr>
                        <a:t>to - 247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05800" y="6324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9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Сравнение микропроцессоров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sz="quarter" idx="1"/>
          </p:nvPr>
        </p:nvGraphicFramePr>
        <p:xfrm>
          <a:off x="457200" y="1676400"/>
          <a:ext cx="8229604" cy="3239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1"/>
                <a:gridCol w="2057401"/>
                <a:gridCol w="2057401"/>
                <a:gridCol w="2057401"/>
              </a:tblGrid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dirty="0">
                          <a:latin typeface="Times New Roman"/>
                          <a:ea typeface="Times New Roman"/>
                        </a:rPr>
                        <a:t>Микроконтроллер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TMS320F28335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dirty="0">
                          <a:latin typeface="Times New Roman"/>
                          <a:ea typeface="Times New Roman"/>
                        </a:rPr>
                        <a:t>К1986ВЕ1QI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dirty="0">
                          <a:latin typeface="Times New Roman"/>
                          <a:ea typeface="Times New Roman"/>
                        </a:rPr>
                        <a:t>GD32F207VCT6</a:t>
                      </a: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Максимальная частота ядра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kern="1600" dirty="0">
                          <a:latin typeface="Times New Roman"/>
                          <a:ea typeface="Times New Roman"/>
                          <a:cs typeface="Times New Roman"/>
                        </a:rPr>
                        <a:t>150 МГц</a:t>
                      </a:r>
                      <a:endParaRPr lang="ru-RU" sz="1400" b="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kern="1600" dirty="0">
                          <a:latin typeface="Times New Roman"/>
                          <a:ea typeface="Times New Roman"/>
                          <a:cs typeface="Times New Roman"/>
                        </a:rPr>
                        <a:t>144 МГц</a:t>
                      </a:r>
                      <a:endParaRPr lang="ru-RU" sz="1400" b="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kern="1600">
                          <a:latin typeface="Times New Roman"/>
                          <a:ea typeface="Times New Roman"/>
                          <a:cs typeface="Times New Roman"/>
                        </a:rPr>
                        <a:t>120 МГц</a:t>
                      </a:r>
                      <a:endParaRPr lang="ru-RU" sz="1400" b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>
                          <a:latin typeface="Times New Roman"/>
                          <a:ea typeface="Times New Roman"/>
                        </a:rPr>
                        <a:t>Объём памяти программ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kern="1600" dirty="0">
                          <a:latin typeface="Times New Roman"/>
                          <a:ea typeface="Times New Roman"/>
                          <a:cs typeface="Times New Roman"/>
                        </a:rPr>
                        <a:t>512 </a:t>
                      </a:r>
                      <a:r>
                        <a:rPr lang="ru-RU" sz="1400" b="0" kern="1600" dirty="0" err="1">
                          <a:latin typeface="Times New Roman"/>
                          <a:ea typeface="Times New Roman"/>
                          <a:cs typeface="Times New Roman"/>
                        </a:rPr>
                        <a:t>кБайт</a:t>
                      </a:r>
                      <a:endParaRPr lang="ru-RU" sz="1400" b="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kern="1600" dirty="0">
                          <a:latin typeface="Times New Roman"/>
                          <a:ea typeface="Times New Roman"/>
                          <a:cs typeface="Times New Roman"/>
                        </a:rPr>
                        <a:t>128кБайт</a:t>
                      </a:r>
                      <a:endParaRPr lang="ru-RU" sz="1400" b="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kern="1600">
                          <a:latin typeface="Times New Roman"/>
                          <a:ea typeface="Times New Roman"/>
                          <a:cs typeface="Times New Roman"/>
                        </a:rPr>
                        <a:t>256 кБайт</a:t>
                      </a:r>
                      <a:endParaRPr lang="ru-RU" sz="1400" b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>
                          <a:latin typeface="Times New Roman"/>
                          <a:ea typeface="Times New Roman"/>
                        </a:rPr>
                        <a:t>Тип памяти программ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kern="1600">
                          <a:latin typeface="Times New Roman"/>
                          <a:ea typeface="Times New Roman"/>
                          <a:cs typeface="Times New Roman"/>
                        </a:rPr>
                        <a:t>FLASH</a:t>
                      </a:r>
                      <a:endParaRPr lang="ru-RU" sz="1400" b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kern="1600" dirty="0">
                          <a:latin typeface="Times New Roman"/>
                          <a:ea typeface="Times New Roman"/>
                          <a:cs typeface="Times New Roman"/>
                        </a:rPr>
                        <a:t>FLASH</a:t>
                      </a:r>
                      <a:endParaRPr lang="ru-RU" sz="1400" b="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kern="1600" dirty="0">
                          <a:latin typeface="Times New Roman"/>
                          <a:ea typeface="Times New Roman"/>
                          <a:cs typeface="Times New Roman"/>
                        </a:rPr>
                        <a:t>FLASH</a:t>
                      </a:r>
                      <a:endParaRPr lang="ru-RU" sz="1400" b="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>
                          <a:latin typeface="Times New Roman"/>
                          <a:ea typeface="Times New Roman"/>
                        </a:rPr>
                        <a:t>Объём оперативной памяти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kern="1600" dirty="0">
                          <a:latin typeface="Times New Roman"/>
                          <a:ea typeface="Times New Roman"/>
                          <a:cs typeface="Times New Roman"/>
                        </a:rPr>
                        <a:t>68 </a:t>
                      </a:r>
                      <a:r>
                        <a:rPr lang="ru-RU" sz="1400" b="0" kern="1600" dirty="0" err="1">
                          <a:latin typeface="Times New Roman"/>
                          <a:ea typeface="Times New Roman"/>
                          <a:cs typeface="Times New Roman"/>
                        </a:rPr>
                        <a:t>кБайт</a:t>
                      </a:r>
                      <a:endParaRPr lang="ru-RU" sz="1400" b="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kern="1600" dirty="0">
                          <a:latin typeface="Times New Roman"/>
                          <a:ea typeface="Times New Roman"/>
                          <a:cs typeface="Times New Roman"/>
                        </a:rPr>
                        <a:t>48кБайт</a:t>
                      </a:r>
                      <a:endParaRPr lang="ru-RU" sz="1400" b="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kern="1600" dirty="0">
                          <a:latin typeface="Times New Roman"/>
                          <a:ea typeface="Times New Roman"/>
                          <a:cs typeface="Times New Roman"/>
                        </a:rPr>
                        <a:t>128кБайт</a:t>
                      </a:r>
                      <a:endParaRPr lang="ru-RU" sz="1400" b="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>
                          <a:latin typeface="Times New Roman"/>
                          <a:ea typeface="Times New Roman"/>
                        </a:rPr>
                        <a:t>Количество входов/выходов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kern="1600">
                          <a:latin typeface="Times New Roman"/>
                          <a:ea typeface="Times New Roman"/>
                          <a:cs typeface="Times New Roman"/>
                        </a:rPr>
                        <a:t>88</a:t>
                      </a:r>
                      <a:endParaRPr lang="ru-RU" sz="1400" b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kern="1600">
                          <a:latin typeface="Times New Roman"/>
                          <a:ea typeface="Times New Roman"/>
                          <a:cs typeface="Times New Roman"/>
                        </a:rPr>
                        <a:t>96</a:t>
                      </a:r>
                      <a:endParaRPr lang="ru-RU" sz="1400" b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kern="1600" dirty="0">
                          <a:latin typeface="Times New Roman"/>
                          <a:ea typeface="Times New Roman"/>
                          <a:cs typeface="Times New Roman"/>
                        </a:rPr>
                        <a:t>82</a:t>
                      </a:r>
                      <a:endParaRPr lang="ru-RU" sz="1400" b="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dirty="0">
                          <a:latin typeface="Times New Roman"/>
                          <a:ea typeface="Times New Roman"/>
                        </a:rPr>
                        <a:t>АЦП/ЦАП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kern="1600" dirty="0">
                          <a:latin typeface="Times New Roman"/>
                          <a:ea typeface="Times New Roman"/>
                          <a:cs typeface="Times New Roman"/>
                        </a:rPr>
                        <a:t>АЦП: 16x12b</a:t>
                      </a:r>
                      <a:endParaRPr lang="ru-RU" sz="1400" b="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kern="1600">
                          <a:latin typeface="Times New Roman"/>
                          <a:ea typeface="Times New Roman"/>
                          <a:cs typeface="Times New Roman"/>
                        </a:rPr>
                        <a:t>АЦП: 8x12b</a:t>
                      </a:r>
                      <a:endParaRPr lang="ru-RU" sz="1400" b="0">
                        <a:latin typeface="Times New Roman"/>
                        <a:ea typeface="Times New Roman"/>
                      </a:endParaRPr>
                    </a:p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kern="1600">
                          <a:latin typeface="Times New Roman"/>
                          <a:ea typeface="Times New Roman"/>
                          <a:cs typeface="Times New Roman"/>
                        </a:rPr>
                        <a:t>ЦАП: 2x12b</a:t>
                      </a:r>
                      <a:endParaRPr lang="ru-RU" sz="1400" b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kern="1600" dirty="0">
                          <a:latin typeface="Times New Roman"/>
                          <a:ea typeface="Times New Roman"/>
                          <a:cs typeface="Times New Roman"/>
                        </a:rPr>
                        <a:t>АЦП: 16x12b</a:t>
                      </a:r>
                      <a:endParaRPr lang="ru-RU" sz="1400" b="0" dirty="0">
                        <a:latin typeface="Times New Roman"/>
                        <a:ea typeface="Times New Roman"/>
                      </a:endParaRPr>
                    </a:p>
                    <a:p>
                      <a:pPr indent="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400" b="0" kern="1600" dirty="0">
                          <a:latin typeface="Times New Roman"/>
                          <a:ea typeface="Times New Roman"/>
                          <a:cs typeface="Times New Roman"/>
                        </a:rPr>
                        <a:t>ЦАП: 2x12b</a:t>
                      </a:r>
                      <a:endParaRPr lang="ru-RU" sz="1400" b="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05800" y="6324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10</a:t>
            </a:r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Разработка модели в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MatLab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Содержимое 3" descr="скрин модели"/>
          <p:cNvPicPr>
            <a:picLocks noGrp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1821464"/>
            <a:ext cx="8229600" cy="373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8305800" y="6324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11</a:t>
            </a: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Характеристика разгона и торможения электродвигателя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05800" y="6324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524000"/>
            <a:ext cx="8435341" cy="410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Характеристики при работе с обратной связью по температуре кристалла транзистора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05800" y="6324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13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0999" y="1295400"/>
            <a:ext cx="8358187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Характеристики аварийного режима работы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05800" y="6324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14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295399"/>
            <a:ext cx="8382000" cy="46293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Технико-экономическое обоснование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sz="quarter" idx="1"/>
          </p:nvPr>
        </p:nvGraphicFramePr>
        <p:xfrm>
          <a:off x="381000" y="2286000"/>
          <a:ext cx="8229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indent="450215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800" dirty="0">
                          <a:latin typeface="Times New Roman"/>
                          <a:ea typeface="Times New Roman"/>
                        </a:rPr>
                        <a:t>Наименование статьи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800" dirty="0">
                          <a:latin typeface="Times New Roman"/>
                          <a:ea typeface="Times New Roman"/>
                        </a:rPr>
                        <a:t>Сумма, руб.</a:t>
                      </a: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indent="450215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800">
                          <a:latin typeface="Times New Roman"/>
                          <a:ea typeface="Times New Roman"/>
                        </a:rPr>
                        <a:t>Основная заработная плата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800">
                          <a:latin typeface="Times New Roman"/>
                          <a:ea typeface="Times New Roman"/>
                        </a:rPr>
                        <a:t>173850</a:t>
                      </a: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indent="450215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800">
                          <a:latin typeface="Times New Roman"/>
                          <a:ea typeface="Times New Roman"/>
                        </a:rPr>
                        <a:t>Дополнительная заработная плата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800">
                          <a:latin typeface="Times New Roman"/>
                          <a:ea typeface="Times New Roman"/>
                        </a:rPr>
                        <a:t>24339</a:t>
                      </a: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indent="450215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800">
                          <a:latin typeface="Times New Roman"/>
                          <a:ea typeface="Times New Roman"/>
                        </a:rPr>
                        <a:t>Отчисления на социальные нужды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800" dirty="0">
                          <a:latin typeface="Times New Roman"/>
                          <a:ea typeface="Times New Roman"/>
                        </a:rPr>
                        <a:t>59456,7</a:t>
                      </a: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indent="450215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800">
                          <a:latin typeface="Times New Roman"/>
                          <a:ea typeface="Times New Roman"/>
                        </a:rPr>
                        <a:t>Расходные материалы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800" dirty="0">
                          <a:latin typeface="Times New Roman"/>
                          <a:ea typeface="Times New Roman"/>
                        </a:rPr>
                        <a:t>2740</a:t>
                      </a: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indent="450215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800">
                          <a:latin typeface="Times New Roman"/>
                          <a:ea typeface="Times New Roman"/>
                        </a:rPr>
                        <a:t>Амортизационные отчисления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800">
                          <a:latin typeface="Times New Roman"/>
                          <a:ea typeface="Times New Roman"/>
                        </a:rPr>
                        <a:t>2225</a:t>
                      </a: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indent="450215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800">
                          <a:latin typeface="Times New Roman"/>
                          <a:ea typeface="Times New Roman"/>
                        </a:rPr>
                        <a:t>Итого: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25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800" dirty="0">
                          <a:latin typeface="Times New Roman"/>
                          <a:ea typeface="Times New Roman"/>
                        </a:rPr>
                        <a:t>262610</a:t>
                      </a: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05800" y="6324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15</a:t>
            </a:r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Заключение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Содержимое 1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229600" cy="4572000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Разработана система управления вентиляцией силового шкафа карьерного самосвала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внедрении предложенного способа охлаждения ожидается уменьшение энергопотребления за счет наличия обратной связи по температуре кристалла транзистора, а так же обеспечение более качественного охлаждения транзисторов</a:t>
            </a:r>
          </a:p>
          <a:p>
            <a:pPr>
              <a:buFont typeface="Arial" pitchFamily="34" charset="0"/>
              <a:buChar char="•"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Font typeface="Arial" pitchFamily="34" charset="0"/>
              <a:buChar char="•"/>
            </a:pP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8305800" y="6324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16</a:t>
            </a:r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971800"/>
            <a:ext cx="8229600" cy="990600"/>
          </a:xfrm>
        </p:spPr>
        <p:txBody>
          <a:bodyPr/>
          <a:lstStyle/>
          <a:p>
            <a:pPr algn="ctr"/>
            <a:r>
              <a:rPr lang="ru-RU" dirty="0" smtClean="0"/>
              <a:t>Благодарю за внимание!</a:t>
            </a:r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чальная">
  <a:themeElements>
    <a:clrScheme name="Начальная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Начальная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Начальная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511</TotalTime>
  <Words>483</Words>
  <PresentationFormat>Экран (4:3)</PresentationFormat>
  <Paragraphs>171</Paragraphs>
  <Slides>17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9" baseType="lpstr">
      <vt:lpstr>Начальная</vt:lpstr>
      <vt:lpstr>MathType 7.0 Equation</vt:lpstr>
      <vt:lpstr>Слайд 1</vt:lpstr>
      <vt:lpstr>Цель и задачи</vt:lpstr>
      <vt:lpstr>Способы охлаждения полупроводниковых ключей</vt:lpstr>
      <vt:lpstr>Существующие решения для охлаждения </vt:lpstr>
      <vt:lpstr>Разработка функциональной схемы</vt:lpstr>
      <vt:lpstr>Определение значения теплового сопротивления охладителя</vt:lpstr>
      <vt:lpstr>Определение параметров вентилятора</vt:lpstr>
      <vt:lpstr>Выбор вентилятора и двигателя</vt:lpstr>
      <vt:lpstr>Выбор транзисторов</vt:lpstr>
      <vt:lpstr>Сравнение микропроцессоров</vt:lpstr>
      <vt:lpstr>Разработка модели в MatLab</vt:lpstr>
      <vt:lpstr>Характеристика разгона и торможения электродвигателя</vt:lpstr>
      <vt:lpstr>Характеристики при работе с обратной связью по температуре кристалла транзистора</vt:lpstr>
      <vt:lpstr>Характеристики аварийного режима работы</vt:lpstr>
      <vt:lpstr>Технико-экономическое обоснование</vt:lpstr>
      <vt:lpstr>Заключение</vt:lpstr>
      <vt:lpstr>Благодарю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по преддипломной практике</dc:title>
  <dc:creator>Андрей</dc:creator>
  <cp:lastModifiedBy>Андрей</cp:lastModifiedBy>
  <cp:revision>50</cp:revision>
  <dcterms:created xsi:type="dcterms:W3CDTF">2019-05-27T16:25:29Z</dcterms:created>
  <dcterms:modified xsi:type="dcterms:W3CDTF">2019-06-16T17:39:11Z</dcterms:modified>
</cp:coreProperties>
</file>